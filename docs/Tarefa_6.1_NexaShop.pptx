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9FB3D6"/>
                </a:solidFill>
              </a:rPr>
              <a:t>NexaShop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FB8"/>
                </a:solidFill>
              </a:rPr>
              <a:t>Bloco 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71500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Ponte para a próxima aula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663440" y="2103120"/>
            <a:ext cx="6949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B2A4A"/>
                </a:solidFill>
              </a:rPr>
              <a:t>Uma pergunta que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B2A4A"/>
                </a:solidFill>
              </a:rPr>
              <a:t>ainda não conseguimos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B2A4A"/>
                </a:solidFill>
              </a:rPr>
              <a:t>responder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663440" y="45720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506B"/>
                </a:solidFill>
              </a:rPr>
              <a:t>Tarefa 6.1 — Consultas SQL com MySQL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63440" y="502920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F73"/>
                </a:solidFill>
              </a:rPr>
              <a:t>Christopher Steudel  •  Danillo de Souza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E7F73"/>
                </a:solidFill>
              </a:rPr>
              <a:t>A pergunta que travou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1064240" cy="1828800"/>
          </a:xfrm>
          <a:prstGeom prst="roundRect">
            <a:avLst>
              <a:gd name="adj" fmla="val 6000"/>
            </a:avLst>
          </a:prstGeom>
          <a:solidFill>
            <a:srgbClr val="E7F3F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143000"/>
            <a:ext cx="10332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B2A4A"/>
                </a:solidFill>
              </a:rPr>
              <a:t>“Quais categorias de produto concentram</a:t>
            </a:r>
            <a:endParaRPr lang="en-US" sz="30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B2A4A"/>
                </a:solidFill>
              </a:rPr>
              <a:t>mais avaliações ruins?”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329184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4506B"/>
                </a:solidFill>
              </a:rPr>
              <a:t>Essa é uma pergunta real de negócio: o time de qualidade da NexaShop precisaria dessa informação para saber em quais categorias investigar problemas de satisfação do cliente. Tentamos responder essa pergunta com o que aprendemos até agora — SELECT, WHERE, GROUP BY — mas não conseguimos, usando apenas uma tabela.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50292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513892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</a:rPr>
              <a:t>Por que essa pergunta é boa para mostrar o limite atual?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5468112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4506B"/>
                </a:solidFill>
              </a:rPr>
              <a:t>Porque ela não depende de só duas tabelas — depende de três, ligadas em cadeia. Isso mostra que entendemos a estrutura completa do banco, não só o básico.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E7F73"/>
                </a:solidFill>
              </a:rPr>
              <a:t>Onde está cada informação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506B"/>
                </a:solidFill>
              </a:rPr>
              <a:t>As duas informações que precisamos estão em tabelas diferentes — e sem ligação direta entre si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3200400" cy="2468880"/>
          </a:xfrm>
          <a:prstGeom prst="roundRect">
            <a:avLst>
              <a:gd name="adj" fmla="val 3704"/>
            </a:avLst>
          </a:prstGeom>
          <a:solidFill>
            <a:srgbClr val="F5F7FA"/>
          </a:solidFill>
          <a:ln w="19050">
            <a:solidFill>
              <a:srgbClr val="C97B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57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C97B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Tem a NOTA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</a:rPr>
              <a:t>avaliacoes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310896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06B"/>
                </a:solidFill>
              </a:rPr>
              <a:t>Guarda a nota de cada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06B"/>
                </a:solidFill>
              </a:rPr>
              <a:t>avaliação (1 a 5) e o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06B"/>
                </a:solidFill>
              </a:rPr>
              <a:t>pedido_id do pedido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06B"/>
                </a:solidFill>
              </a:rPr>
              <a:t>avaliado.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995928" y="2898648"/>
            <a:ext cx="557784" cy="329184"/>
          </a:xfrm>
          <a:prstGeom prst="rightArrow">
            <a:avLst/>
          </a:prstGeom>
          <a:solidFill>
            <a:srgbClr val="AEB8C9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1828800"/>
            <a:ext cx="3200400" cy="2468880"/>
          </a:xfrm>
          <a:prstGeom prst="roundRect">
            <a:avLst>
              <a:gd name="adj" fmla="val 3704"/>
            </a:avLst>
          </a:prstGeom>
          <a:solidFill>
            <a:srgbClr val="F5F7FA"/>
          </a:solidFill>
          <a:ln w="19050">
            <a:solidFill>
              <a:srgbClr val="1E7F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92040" y="2057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1E7F73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2057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É a PONTE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26060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</a:rPr>
              <a:t>pedidos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846320" y="310896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06B"/>
                </a:solidFill>
              </a:rPr>
              <a:t>É a tabela do meio: liga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06B"/>
                </a:solidFill>
              </a:rPr>
              <a:t>cada pedido a um cliente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06B"/>
                </a:solidFill>
              </a:rPr>
              <a:t>(cliente_id) e a um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06B"/>
                </a:solidFill>
              </a:rPr>
              <a:t>produto (produto_id).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73568" y="2898648"/>
            <a:ext cx="557784" cy="329184"/>
          </a:xfrm>
          <a:prstGeom prst="rightArrow">
            <a:avLst/>
          </a:prstGeom>
          <a:solidFill>
            <a:srgbClr val="AEB8C9"/>
          </a:solidFill>
          <a:ln/>
        </p:spPr>
      </p:sp>
      <p:sp>
        <p:nvSpPr>
          <p:cNvPr id="16" name="Shape 14"/>
          <p:cNvSpPr/>
          <p:nvPr/>
        </p:nvSpPr>
        <p:spPr>
          <a:xfrm>
            <a:off x="8641080" y="1828800"/>
            <a:ext cx="3200400" cy="2468880"/>
          </a:xfrm>
          <a:prstGeom prst="roundRect">
            <a:avLst>
              <a:gd name="adj" fmla="val 3704"/>
            </a:avLst>
          </a:prstGeom>
          <a:solidFill>
            <a:srgbClr val="F5F7FA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0" y="2057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8869680" y="2057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Tem a CATEGORIA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823960" y="26060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</a:rPr>
              <a:t>produtos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23960" y="310896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06B"/>
                </a:solidFill>
              </a:rPr>
              <a:t>Guarda a categoria,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06B"/>
                </a:solidFill>
              </a:rPr>
              <a:t>o nome, a marca e o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06B"/>
                </a:solidFill>
              </a:rPr>
              <a:t>preço de cada produto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06B"/>
                </a:solidFill>
              </a:rPr>
              <a:t>do catálogo.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46177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44506B"/>
                </a:solidFill>
              </a:rPr>
              <a:t>Repare: avaliacoes não tem nenhuma coluna de categoria, e produtos não tem nenhuma coluna de nota. O único jeito de ligar as duas pontas é passando pela tabela pedidos no meio.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E7F73"/>
                </a:solidFill>
              </a:rPr>
              <a:t>Estrutura completa das tabelas envolvidas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506B"/>
                </a:solidFill>
              </a:rPr>
              <a:t>Todas as colunas de avaliacoes, pedidos e produtos, como estão criadas no banco da NexaShop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566160" cy="48920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9050">
            <a:solidFill>
              <a:srgbClr val="C97B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88720"/>
            <a:ext cx="3566160" cy="566928"/>
          </a:xfrm>
          <a:prstGeom prst="roundRect">
            <a:avLst>
              <a:gd name="adj" fmla="val 12903"/>
            </a:avLst>
          </a:prstGeom>
          <a:solidFill>
            <a:srgbClr val="C97B2E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43584"/>
            <a:ext cx="3163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avaliacoes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1517904"/>
            <a:ext cx="31638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</a:rPr>
              <a:t>Tem a NOTA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1847088"/>
            <a:ext cx="1783080" cy="428031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id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240280" y="1847088"/>
            <a:ext cx="1417320" cy="428031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INT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2261311"/>
            <a:ext cx="3108960" cy="2761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97B2E"/>
                </a:solidFill>
              </a:rPr>
              <a:t>PK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368" y="2537460"/>
            <a:ext cx="1783080" cy="428031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pedido_id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240280" y="2537460"/>
            <a:ext cx="1417320" cy="428031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INT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" y="2951683"/>
            <a:ext cx="3108960" cy="2761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97B2E"/>
                </a:solidFill>
              </a:rPr>
              <a:t>FK → pedidos.id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30352" y="3209544"/>
            <a:ext cx="3419856" cy="672084"/>
          </a:xfrm>
          <a:prstGeom prst="rect">
            <a:avLst/>
          </a:prstGeom>
          <a:solidFill>
            <a:srgbClr val="E7F3F1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227832"/>
            <a:ext cx="178308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</a:rPr>
              <a:t>nota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40280" y="3227832"/>
            <a:ext cx="141732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INT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8368" y="3918204"/>
            <a:ext cx="178308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comentario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240280" y="3918204"/>
            <a:ext cx="141732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VARCHAR(255)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4608576"/>
            <a:ext cx="178308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data_avaliacao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240280" y="4608576"/>
            <a:ext cx="141732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DATE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5298948"/>
            <a:ext cx="178308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respondida_pela_loja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240280" y="5298948"/>
            <a:ext cx="141732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TINYINT(1)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297680" y="1188720"/>
            <a:ext cx="3566160" cy="48920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9050">
            <a:solidFill>
              <a:srgbClr val="1E7F7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97680" y="1188720"/>
            <a:ext cx="3566160" cy="566928"/>
          </a:xfrm>
          <a:prstGeom prst="roundRect">
            <a:avLst>
              <a:gd name="adj" fmla="val 12903"/>
            </a:avLst>
          </a:prstGeom>
          <a:solidFill>
            <a:srgbClr val="1E7F73"/>
          </a:solidFill>
          <a:ln/>
        </p:spPr>
      </p:sp>
      <p:sp>
        <p:nvSpPr>
          <p:cNvPr id="25" name="Text 23"/>
          <p:cNvSpPr/>
          <p:nvPr/>
        </p:nvSpPr>
        <p:spPr>
          <a:xfrm>
            <a:off x="4498848" y="1243584"/>
            <a:ext cx="3163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pedidos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4498848" y="1517904"/>
            <a:ext cx="31638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</a:rPr>
              <a:t>É a PONTE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98848" y="1847088"/>
            <a:ext cx="1783080" cy="25681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id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080760" y="1847088"/>
            <a:ext cx="1417320" cy="25681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INT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498848" y="2095622"/>
            <a:ext cx="3108960" cy="1656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1E7F73"/>
                </a:solidFill>
              </a:rPr>
              <a:t>PK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498848" y="2261311"/>
            <a:ext cx="1783080" cy="25681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cliente_id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080760" y="2261311"/>
            <a:ext cx="1417320" cy="25681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INT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98848" y="2509845"/>
            <a:ext cx="3108960" cy="1656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1E7F73"/>
                </a:solidFill>
              </a:rPr>
              <a:t>FK → clientes.id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370832" y="2657246"/>
            <a:ext cx="3419856" cy="395935"/>
          </a:xfrm>
          <a:prstGeom prst="rect">
            <a:avLst/>
          </a:prstGeom>
          <a:solidFill>
            <a:srgbClr val="E7F3F1"/>
          </a:solidFill>
          <a:ln/>
        </p:spPr>
      </p:sp>
      <p:sp>
        <p:nvSpPr>
          <p:cNvPr id="34" name="Text 32"/>
          <p:cNvSpPr/>
          <p:nvPr/>
        </p:nvSpPr>
        <p:spPr>
          <a:xfrm>
            <a:off x="4498848" y="2675534"/>
            <a:ext cx="1783080" cy="25681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</a:rPr>
              <a:t>produto_id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080760" y="2675534"/>
            <a:ext cx="1417320" cy="25681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INT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498848" y="2924068"/>
            <a:ext cx="3108960" cy="1656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1E7F73"/>
                </a:solidFill>
              </a:rPr>
              <a:t>FK → produtos.id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498848" y="3089758"/>
            <a:ext cx="1783080" cy="414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data_pedido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080760" y="3089758"/>
            <a:ext cx="1417320" cy="414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DATE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498848" y="3503981"/>
            <a:ext cx="1783080" cy="414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quantidade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080760" y="3503981"/>
            <a:ext cx="1417320" cy="414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INT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498848" y="3918204"/>
            <a:ext cx="1783080" cy="414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valor_total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080760" y="3918204"/>
            <a:ext cx="1417320" cy="414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DECIMAL(10,2)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498848" y="4332427"/>
            <a:ext cx="1783080" cy="414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forma_pagamento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080760" y="4332427"/>
            <a:ext cx="1417320" cy="414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VARCHAR(30)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98848" y="4746650"/>
            <a:ext cx="1783080" cy="414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canal_venda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6080760" y="4746650"/>
            <a:ext cx="1417320" cy="414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VARCHAR(20)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98848" y="5160874"/>
            <a:ext cx="1783080" cy="414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status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6080760" y="5160874"/>
            <a:ext cx="1417320" cy="414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VARCHAR(20)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498848" y="5575097"/>
            <a:ext cx="1783080" cy="414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cupom_desconto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080760" y="5575097"/>
            <a:ext cx="1417320" cy="414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VARCHAR(20)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138160" y="1188720"/>
            <a:ext cx="3566160" cy="489204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138160" y="1188720"/>
            <a:ext cx="3566160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53" name="Text 51"/>
          <p:cNvSpPr/>
          <p:nvPr/>
        </p:nvSpPr>
        <p:spPr>
          <a:xfrm>
            <a:off x="8339328" y="1243584"/>
            <a:ext cx="31638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produtos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8339328" y="1517904"/>
            <a:ext cx="31638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</a:rPr>
              <a:t>Tem a CATEGORIA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339328" y="1847088"/>
            <a:ext cx="1783080" cy="366883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id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9921240" y="1847088"/>
            <a:ext cx="1417320" cy="366883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INT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339328" y="2202136"/>
            <a:ext cx="3108960" cy="2366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1B2A4A"/>
                </a:solidFill>
              </a:rPr>
              <a:t>PK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339328" y="2438835"/>
            <a:ext cx="1783080" cy="5917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nome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9921240" y="2438835"/>
            <a:ext cx="1417320" cy="5917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VARCHAR(150)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8211312" y="3012295"/>
            <a:ext cx="3419856" cy="573459"/>
          </a:xfrm>
          <a:prstGeom prst="rect">
            <a:avLst/>
          </a:prstGeom>
          <a:solidFill>
            <a:srgbClr val="E7F3F1"/>
          </a:solidFill>
          <a:ln/>
        </p:spPr>
      </p:sp>
      <p:sp>
        <p:nvSpPr>
          <p:cNvPr id="61" name="Text 59"/>
          <p:cNvSpPr/>
          <p:nvPr/>
        </p:nvSpPr>
        <p:spPr>
          <a:xfrm>
            <a:off x="8339328" y="3030583"/>
            <a:ext cx="1783080" cy="5917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</a:rPr>
              <a:t>categoria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9921240" y="3030583"/>
            <a:ext cx="1417320" cy="5917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VARCHAR(60)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339328" y="3622330"/>
            <a:ext cx="1783080" cy="5917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marca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9921240" y="3622330"/>
            <a:ext cx="1417320" cy="5917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VARCHAR(60)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8339328" y="4214078"/>
            <a:ext cx="1783080" cy="5917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preco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9921240" y="4214078"/>
            <a:ext cx="1417320" cy="5917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DECIMAL(10,2)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8339328" y="4805825"/>
            <a:ext cx="1783080" cy="5917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estoque</a:t>
            </a:r>
            <a:endParaRPr lang="en-US" sz="1250" dirty="0"/>
          </a:p>
        </p:txBody>
      </p:sp>
      <p:sp>
        <p:nvSpPr>
          <p:cNvPr id="68" name="Text 66"/>
          <p:cNvSpPr/>
          <p:nvPr/>
        </p:nvSpPr>
        <p:spPr>
          <a:xfrm>
            <a:off x="9921240" y="4805825"/>
            <a:ext cx="1417320" cy="5917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INT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8339328" y="5397573"/>
            <a:ext cx="1783080" cy="5917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</a:rPr>
              <a:t>ativo</a:t>
            </a:r>
            <a:endParaRPr lang="en-US" sz="1250" dirty="0"/>
          </a:p>
        </p:txBody>
      </p:sp>
      <p:sp>
        <p:nvSpPr>
          <p:cNvPr id="70" name="Text 68"/>
          <p:cNvSpPr/>
          <p:nvPr/>
        </p:nvSpPr>
        <p:spPr>
          <a:xfrm>
            <a:off x="9921240" y="5397573"/>
            <a:ext cx="1417320" cy="5917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06B"/>
                </a:solidFill>
              </a:rPr>
              <a:t>TINYINT(1)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050792" y="3506724"/>
            <a:ext cx="219456" cy="256032"/>
          </a:xfrm>
          <a:prstGeom prst="rightArrow">
            <a:avLst/>
          </a:prstGeom>
          <a:solidFill>
            <a:srgbClr val="AEB8C9"/>
          </a:solidFill>
          <a:ln/>
        </p:spPr>
      </p:sp>
      <p:sp>
        <p:nvSpPr>
          <p:cNvPr id="72" name="Shape 70"/>
          <p:cNvSpPr/>
          <p:nvPr/>
        </p:nvSpPr>
        <p:spPr>
          <a:xfrm>
            <a:off x="7891272" y="3506724"/>
            <a:ext cx="219456" cy="256032"/>
          </a:xfrm>
          <a:prstGeom prst="rightArrow">
            <a:avLst/>
          </a:prstGeom>
          <a:solidFill>
            <a:srgbClr val="AEB8C9"/>
          </a:solidFill>
          <a:ln/>
        </p:spPr>
      </p:sp>
      <p:sp>
        <p:nvSpPr>
          <p:cNvPr id="73" name="Text 71"/>
          <p:cNvSpPr/>
          <p:nvPr/>
        </p:nvSpPr>
        <p:spPr>
          <a:xfrm>
            <a:off x="457200" y="619048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06B"/>
                </a:solidFill>
              </a:rPr>
              <a:t>Em destaque: a coluna nota (avaliacoes), a coluna categoria (produtos) e as colunas de ligação produto_id / pedido_id (pedidos) — que formam a cadeia usada para responder à pergunta de negócio.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E7F73"/>
                </a:solidFill>
              </a:rPr>
              <a:t>Por que não conseguimos responder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B2A4A"/>
                </a:solidFill>
              </a:rPr>
              <a:t>O comando SELECT que usamos até agora só consegue ler os dados de UMA tabela por vez.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rgbClr val="1E7F7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210312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Se consultarmos só avaliacoes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441448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4506B"/>
                </a:solidFill>
              </a:rPr>
              <a:t>vemos as notas de cada avaliação, mas nenhuma informação sobre o produto ou a categoria.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502920" cy="502920"/>
          </a:xfrm>
          <a:prstGeom prst="ellipse">
            <a:avLst/>
          </a:prstGeom>
          <a:solidFill>
            <a:srgbClr val="1E7F7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333756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Se consultarmos só produtos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675888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4506B"/>
                </a:solidFill>
              </a:rPr>
              <a:t>vemos a categoria de cada item do catálogo, mas nenhuma nota de avaliação associada a ele.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617720"/>
            <a:ext cx="502920" cy="502920"/>
          </a:xfrm>
          <a:prstGeom prst="ellipse">
            <a:avLst/>
          </a:prstGeom>
          <a:solidFill>
            <a:srgbClr val="1E7F73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617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57200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Não existe uma terceira opção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910328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4506B"/>
                </a:solidFill>
              </a:rPr>
              <a:t>com uma tabela só — seria preciso reunir dados de avaliacoes, pedidos e produtos ao mesmo tempo, em uma única resposta.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9FB3D6"/>
                </a:solidFill>
              </a:rPr>
              <a:t>O que essa limitação antecipa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Essa é exatamente a situação que motiva a próxima aula.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2011680"/>
          </a:xfrm>
          <a:prstGeom prst="roundRect">
            <a:avLst>
              <a:gd name="adj" fmla="val 5455"/>
            </a:avLst>
          </a:prstGeom>
          <a:solidFill>
            <a:srgbClr val="24345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94560"/>
            <a:ext cx="103327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C97B2E"/>
                </a:solidFill>
              </a:rPr>
              <a:t>JOIN</a:t>
            </a:r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FFFFFF"/>
                </a:solidFill>
              </a:rPr>
              <a:t>  — é o comando que vamos aprender e que permite "colar" duas tabelas lado a lado, linha por linha, casando uma coluna de uma tabela com a coluna correspondente da outra (por exemplo, pedidos.produto_id com produtos.id).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429768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9D4EA"/>
                </a:solidFill>
              </a:rPr>
              <a:t>Nesta pergunta, precisaríamos de dois JOINs em sequência: avaliacoes → pedidos → produtos. Sem essa ferramenta, ficamos sempre presos a responder perguntas dentro de uma tabela isolada, mesmo quando a resposta real está espalhada pela base inteira.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FB8"/>
                </a:solidFill>
              </a:rPr>
              <a:t>Christopher Steudel  •  Danillo de Souza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2026-08-21T02:30:57Z</dcterms:created>
  <dcterms:modified xsi:type="dcterms:W3CDTF">2026-08-21T02:30:57Z</dcterms:modified>
</cp:coreProperties>
</file>